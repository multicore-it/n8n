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71" r:id="rId2"/>
    <p:sldId id="299" r:id="rId3"/>
    <p:sldId id="383" r:id="rId4"/>
    <p:sldId id="412" r:id="rId5"/>
    <p:sldId id="411" r:id="rId6"/>
    <p:sldId id="413" r:id="rId7"/>
    <p:sldId id="393" r:id="rId8"/>
    <p:sldId id="384" r:id="rId9"/>
    <p:sldId id="397" r:id="rId10"/>
    <p:sldId id="406" r:id="rId11"/>
    <p:sldId id="398" r:id="rId12"/>
    <p:sldId id="408" r:id="rId13"/>
    <p:sldId id="407" r:id="rId14"/>
    <p:sldId id="329" r:id="rId15"/>
    <p:sldId id="399" r:id="rId16"/>
    <p:sldId id="409" r:id="rId17"/>
    <p:sldId id="400" r:id="rId18"/>
    <p:sldId id="265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EAC7"/>
    <a:srgbClr val="224D60"/>
    <a:srgbClr val="718EA0"/>
    <a:srgbClr val="6C899B"/>
    <a:srgbClr val="F3F9FB"/>
    <a:srgbClr val="F9FCFD"/>
    <a:srgbClr val="23B0C3"/>
    <a:srgbClr val="146772"/>
    <a:srgbClr val="95E2EC"/>
    <a:srgbClr val="D0C6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8" autoAdjust="0"/>
    <p:restoredTop sz="93939" autoAdjust="0"/>
  </p:normalViewPr>
  <p:slideViewPr>
    <p:cSldViewPr snapToGrid="0" showGuides="1">
      <p:cViewPr varScale="1">
        <p:scale>
          <a:sx n="78" d="100"/>
          <a:sy n="78" d="100"/>
        </p:scale>
        <p:origin x="696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A1BAD-8FC8-4CD6-98B1-D7510A7DAAFA}" type="datetimeFigureOut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92015-B62E-4906-B162-F34FA6C8F4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523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B0058-5A86-656A-0CCC-83C6FF45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33A92E-1954-1C91-9C0C-ED491DD4A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F11DB8-6F41-3B7C-147C-C5444E7B5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25C7CA-9CB5-AC94-FCAE-3D67A4B37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755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9ADBC-5989-A9F7-7DF7-CA2B7094A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491EC4-0E47-3D9D-9A2F-6E61E630C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B08B9A-2E2D-CC62-972F-FD6AAD9F9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E8401F-62F7-33F3-0722-8F7075C49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816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79960-39CD-2841-2D86-B88AC6595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C0D247-A9F8-4E44-8F5A-A150E89D6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D2F523-7128-ED01-9509-035D90A67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F9A8CC-6BE4-5BC6-5CA2-2DAC06E34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549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E4D1E-1C94-C90D-9D3C-8BF6795DC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60F1CF-9761-B951-A014-C97B6F0B09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52B62E-3F2C-2C8A-3C86-8F1089AC8C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311AA4-92F5-DE43-C1BA-73274BEE8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829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EA842-5C4C-A98D-35CA-5B22C25CA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C79147-17FA-560F-3493-C8D29DBA2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139EDF-55FD-4F18-5065-082C648B3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C8A3BE-A6B3-6F76-03CD-4FF6500D0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014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8AF4E-3CF4-467B-3255-B094C1B86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738BA7-37DB-3AA7-A323-4074A2D03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E7E942-7F6E-DB90-005D-23116461D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150AA0-400C-9F72-6BCD-5825F4C7D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001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D536F-DB66-F80B-BCAB-970525664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041AA1-1B16-5EE2-22F1-4376CBE4B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BE1A9A-CC7E-32F1-F811-8DFA4FE3E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DF14A9-2393-9C8B-D5E9-100273410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5893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C01E8-5D12-5311-C1AD-85B735AAC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195790-79B7-ABA1-F6EA-82CFE4B5A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B6120D-1874-1603-64D3-0DEF0B462C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5C9595-4790-C554-7B2F-DAE799234D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968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D7957-CB06-3491-296A-EE0960FA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D9A3CF-5C92-139F-1B03-AA61DE9154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230A63-C240-B0B5-1467-8E7523A15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09005E-7293-CA9C-D570-C188C6645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998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CDBD8-4192-4F94-AC6E-9C6494B4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8488C1-8429-1E26-46B1-4C7AC1B98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A940F98-FA8E-E031-1E15-B3BCE7AC99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58B2D3-972A-F21D-2903-2021EA9A1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753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2E29E-E8AA-2FE1-57D5-99FB3FC20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8F92D8-4405-8428-08DD-9AD35BB3E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385322-FEEC-E274-EC6E-2800E2D8A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FB2203-16F5-C6C8-5CDA-671AD2F74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587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F58E1-9E4D-4904-9499-23F52762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CB0901-822F-3608-2109-D5285B035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F07789-A452-3ACD-0037-29D948F49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98AEA5-2451-7127-7349-B8174ACB3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852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A732-0F4B-0ECA-54D1-E4A60CD37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24BEED-43E0-205D-C716-AF92E971D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48A605-860D-3F4D-41CE-466B8E421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EA1886-6798-A22C-93BE-BA30D033A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5227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B97F-13E8-A255-CD89-8AFEFD11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599463-59CF-7B4B-27B0-07B42553E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5860D6-F6A1-F4C6-506C-FDE51D185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두식이 같아야 지만</a:t>
            </a:r>
            <a:r>
              <a:rPr lang="en-US" altLang="ko-KR" dirty="0"/>
              <a:t>, </a:t>
            </a:r>
            <a:r>
              <a:rPr lang="ko-KR" altLang="en-US" dirty="0"/>
              <a:t>마르코프 속성을 만족한다</a:t>
            </a:r>
            <a:r>
              <a:rPr lang="en-US" altLang="ko-KR" dirty="0"/>
              <a:t>. </a:t>
            </a:r>
            <a:r>
              <a:rPr lang="ko-KR" altLang="en-US" dirty="0"/>
              <a:t>같지 않으면 마르코프 속성을 만족하지 못한다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C200BE-0B8D-8674-0FDE-F8CCCD1CA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92015-B62E-4906-B162-F34FA6C8F41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54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10649066" y="6501660"/>
            <a:ext cx="15440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ⓒmulticoreit.blogspot.com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477B8-8FC2-4F36-9A8C-821B7DDC5CC8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81400" y="6356349"/>
            <a:ext cx="2743200" cy="365125"/>
          </a:xfrm>
        </p:spPr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10633021" y="6501660"/>
            <a:ext cx="15440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ⓒmulticoreit.blogspot.com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25B3B-8E51-4721-A5EE-90BE57D5C844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84917" y="6362628"/>
            <a:ext cx="2743200" cy="365125"/>
          </a:xfrm>
        </p:spPr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9A2C51-32CD-432D-B76E-19A96BD773C4}" type="datetime1">
              <a:rPr lang="ko-KR" altLang="en-US" smtClean="0"/>
              <a:t>2025-09-08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81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956878-ABEC-AF9A-D2CE-3CA826B6E387}"/>
              </a:ext>
            </a:extLst>
          </p:cNvPr>
          <p:cNvSpPr txBox="1"/>
          <p:nvPr/>
        </p:nvSpPr>
        <p:spPr>
          <a:xfrm>
            <a:off x="465221" y="320841"/>
            <a:ext cx="1107707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600" b="1" spc="-150" dirty="0">
                <a:solidFill>
                  <a:schemeClr val="bg1"/>
                </a:solidFill>
                <a:latin typeface="+mj-ea"/>
                <a:ea typeface="+mj-ea"/>
              </a:rPr>
              <a:t>노코드 인공지능 에이전트 </a:t>
            </a:r>
            <a:r>
              <a:rPr lang="en-US" altLang="ko-KR" sz="6600" b="1" spc="-150" dirty="0">
                <a:solidFill>
                  <a:schemeClr val="bg1"/>
                </a:solidFill>
                <a:latin typeface="+mj-ea"/>
                <a:ea typeface="+mj-ea"/>
              </a:rPr>
              <a:t>n8n</a:t>
            </a:r>
          </a:p>
          <a:p>
            <a:r>
              <a:rPr lang="en-US" altLang="ko-KR" sz="5400" b="1" spc="-150" dirty="0">
                <a:solidFill>
                  <a:srgbClr val="FFFF00"/>
                </a:solidFill>
              </a:rPr>
              <a:t>Slack </a:t>
            </a:r>
            <a:r>
              <a:rPr lang="ko-KR" altLang="en-US" sz="5400" b="1" spc="-150" dirty="0">
                <a:solidFill>
                  <a:srgbClr val="FFFF00"/>
                </a:solidFill>
              </a:rPr>
              <a:t>연동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EB93D-E860-DD72-63D2-BA2ACD126D65}"/>
              </a:ext>
            </a:extLst>
          </p:cNvPr>
          <p:cNvSpPr txBox="1"/>
          <p:nvPr/>
        </p:nvSpPr>
        <p:spPr>
          <a:xfrm>
            <a:off x="513347" y="2903620"/>
            <a:ext cx="13019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작성 멀티코어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A083F78-7EAC-088E-92A6-2CCA7C19FAAA}"/>
              </a:ext>
            </a:extLst>
          </p:cNvPr>
          <p:cNvCxnSpPr>
            <a:cxnSpLocks/>
          </p:cNvCxnSpPr>
          <p:nvPr/>
        </p:nvCxnSpPr>
        <p:spPr>
          <a:xfrm>
            <a:off x="513347" y="2542674"/>
            <a:ext cx="1170000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BA48A1-F2B6-3B63-BF48-253136F86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2D2739-B04B-89C2-9A60-69C03D22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1AAB3C00-1D7A-B1D5-FBD4-1D873318CC5A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9E07041-93B1-0B91-6EF2-2B3E22463F7A}"/>
                </a:ext>
              </a:extLst>
            </p:cNvPr>
            <p:cNvSpPr txBox="1"/>
            <p:nvPr/>
          </p:nvSpPr>
          <p:spPr>
            <a:xfrm>
              <a:off x="6817895" y="310803"/>
              <a:ext cx="143020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5574CA9-CCA4-AC9D-EB3C-5082D0AF7F08}"/>
                </a:ext>
              </a:extLst>
            </p:cNvPr>
            <p:cNvSpPr txBox="1"/>
            <p:nvPr/>
          </p:nvSpPr>
          <p:spPr>
            <a:xfrm>
              <a:off x="6817895" y="3350782"/>
              <a:ext cx="370165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spc="-300" dirty="0">
                  <a:solidFill>
                    <a:schemeClr val="bg1"/>
                  </a:solidFill>
                  <a:latin typeface="+mn-ea"/>
                </a:rPr>
                <a:t>Slack </a:t>
              </a:r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알아보기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7E8DB8F8-C650-36DB-EE92-86407FB2EC60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CC6C1FA5-ED83-6E90-A6D9-D1AE961CAFE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9E7C03F-CA7A-1833-43B8-8C118AC70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369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51CA-CC18-2005-19AF-2B8260E46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6D54326-7849-E44C-B9F8-49CA1D1C3744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C7D479-B8B2-61A6-2246-F5CB58D5B760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85B4F-E2C0-4021-726A-792D17B5D33A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</a:rPr>
              <a:t>Slack </a:t>
            </a:r>
            <a:r>
              <a:rPr lang="ko-KR" altLang="en-US" sz="2800" b="1" dirty="0">
                <a:solidFill>
                  <a:schemeClr val="accent1"/>
                </a:solidFill>
              </a:rPr>
              <a:t>알아보기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C57B03A-8E49-7450-5EA5-E1AECF9C9AB2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E1AFFB-E458-482E-2E58-A5CD5E277578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chemeClr val="accent1"/>
                </a:solidFill>
              </a:rPr>
              <a:t>Slack vs. Microsoft Teams: </a:t>
            </a:r>
            <a:r>
              <a:rPr lang="ko-KR" altLang="en-US" sz="2000" b="1" dirty="0">
                <a:solidFill>
                  <a:schemeClr val="accent1"/>
                </a:solidFill>
              </a:rPr>
              <a:t>핵심 기능 비교</a:t>
            </a:r>
            <a:endParaRPr lang="en-US" altLang="ko-KR" sz="2000" b="1" dirty="0">
              <a:solidFill>
                <a:schemeClr val="accent1"/>
              </a:solidFill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CC2B500E-2A9F-6753-7C63-045D5F6B8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C9F1F2-F73C-51FF-174E-7F6376D8330C}"/>
              </a:ext>
            </a:extLst>
          </p:cNvPr>
          <p:cNvSpPr txBox="1"/>
          <p:nvPr/>
        </p:nvSpPr>
        <p:spPr>
          <a:xfrm>
            <a:off x="982941" y="1425156"/>
            <a:ext cx="10693947" cy="703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Slack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과 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Teams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는 현대 직장에서 가장 많이 사용되는 협업 툴입니다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둘 다 팀 커뮤니케이션을 위한 강력한 기능을 제공하지만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각각의 특징과 장단점을 가지고 있습니다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4AAFA33-1164-74D6-9F11-D0E426D7C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2276475"/>
            <a:ext cx="109156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80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CD64A-7B21-2595-B281-EF4AD8511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30351AA-FECC-A199-6926-2C24FEE605D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EDEFD67-5C3E-03D5-6F79-21AA8B4753EF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DC00-A9D5-BBC7-3EE0-6AE3AC14100A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</a:rPr>
              <a:t>Slack </a:t>
            </a:r>
            <a:r>
              <a:rPr lang="ko-KR" altLang="en-US" sz="2800" b="1" dirty="0">
                <a:solidFill>
                  <a:schemeClr val="accent1"/>
                </a:solidFill>
              </a:rPr>
              <a:t>알아보기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14B4A40-C78B-1D8B-8F5F-B78059952DA6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6319B7C-B2FC-8749-A2EE-DB639EF27A9E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chemeClr val="accent1"/>
                </a:solidFill>
              </a:rPr>
              <a:t>Slack vs. Microsoft Teams: </a:t>
            </a:r>
            <a:r>
              <a:rPr lang="ko-KR" altLang="en-US" sz="2000" b="1" dirty="0">
                <a:solidFill>
                  <a:schemeClr val="accent1"/>
                </a:solidFill>
              </a:rPr>
              <a:t>주요 기능 상세비교</a:t>
            </a:r>
            <a:endParaRPr lang="en-US" altLang="ko-KR" sz="2000" b="1" dirty="0">
              <a:solidFill>
                <a:schemeClr val="accent1"/>
              </a:solidFill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F8718D75-6CA8-5D36-BCEE-28C2CD4A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3C98F6-E167-61C8-166B-E2DA63985503}"/>
              </a:ext>
            </a:extLst>
          </p:cNvPr>
          <p:cNvSpPr txBox="1"/>
          <p:nvPr/>
        </p:nvSpPr>
        <p:spPr>
          <a:xfrm>
            <a:off x="982941" y="1425156"/>
            <a:ext cx="10693947" cy="38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Slack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과 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Microsoft Teams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의 주요 기능을 세부적으로 비교하여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각 플랫폼이 어떤 상황과 사용자에게 더 적합한지 알아보겠습니다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C8ED760-0AA7-A979-4754-DC72441D1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1972246"/>
            <a:ext cx="1101090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43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DB43-B9AC-6664-EBD8-A5F535338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C465677-C102-B941-8483-77B4A64C224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7A588C-B04A-A4D8-1609-704BF0B57EF4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A6234-194F-5FC9-7228-F7058AF50CC7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</a:rPr>
              <a:t>Slack </a:t>
            </a:r>
            <a:r>
              <a:rPr lang="ko-KR" altLang="en-US" sz="2800" b="1" dirty="0">
                <a:solidFill>
                  <a:schemeClr val="accent1"/>
                </a:solidFill>
              </a:rPr>
              <a:t>알아보기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3DB9CF2-EE6D-0F15-A5DF-12C35090472B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C479C0-DEC5-1CD2-B252-49AAAAC998D6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chemeClr val="accent1"/>
                </a:solidFill>
              </a:rPr>
              <a:t>기본화면 구성</a:t>
            </a:r>
            <a:endParaRPr lang="en-US" altLang="ko-KR" sz="2000" b="1" dirty="0">
              <a:solidFill>
                <a:schemeClr val="accent1"/>
              </a:solidFill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8FC00ABE-F21F-3038-0CC0-2325D050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3D869DA-D3A3-E8C3-32D8-DCD0BD41A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32" y="1584291"/>
            <a:ext cx="10076033" cy="4772058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11165B3-4ECC-1ED9-1E58-1D1FBBBF5B13}"/>
              </a:ext>
            </a:extLst>
          </p:cNvPr>
          <p:cNvSpPr/>
          <p:nvPr/>
        </p:nvSpPr>
        <p:spPr>
          <a:xfrm>
            <a:off x="984832" y="1584291"/>
            <a:ext cx="2743200" cy="4755847"/>
          </a:xfrm>
          <a:prstGeom prst="roundRect">
            <a:avLst>
              <a:gd name="adj" fmla="val 2016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05350C9-C44E-C990-513C-D268E50943E0}"/>
              </a:ext>
            </a:extLst>
          </p:cNvPr>
          <p:cNvSpPr/>
          <p:nvPr/>
        </p:nvSpPr>
        <p:spPr>
          <a:xfrm>
            <a:off x="3778036" y="1579893"/>
            <a:ext cx="7266352" cy="619301"/>
          </a:xfrm>
          <a:prstGeom prst="roundRect">
            <a:avLst>
              <a:gd name="adj" fmla="val 2016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B68C6C-D8F9-DF99-F094-D961AED54574}"/>
              </a:ext>
            </a:extLst>
          </p:cNvPr>
          <p:cNvSpPr/>
          <p:nvPr/>
        </p:nvSpPr>
        <p:spPr>
          <a:xfrm>
            <a:off x="3774988" y="2215406"/>
            <a:ext cx="7266352" cy="4124732"/>
          </a:xfrm>
          <a:prstGeom prst="roundRect">
            <a:avLst>
              <a:gd name="adj" fmla="val 2016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C3D12BE-CFC8-D99A-DBB2-5DE84AA0D596}"/>
              </a:ext>
            </a:extLst>
          </p:cNvPr>
          <p:cNvSpPr/>
          <p:nvPr/>
        </p:nvSpPr>
        <p:spPr>
          <a:xfrm>
            <a:off x="1551760" y="3595987"/>
            <a:ext cx="1609344" cy="59436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사이드바 </a:t>
            </a:r>
            <a:r>
              <a:rPr lang="en-US" altLang="ko-KR" sz="1600"/>
              <a:t>(Sidebar)</a:t>
            </a:r>
            <a:endParaRPr lang="ko-KR" altLang="en-US" sz="160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64D348C-A478-C229-8F39-26952D1A2453}"/>
              </a:ext>
            </a:extLst>
          </p:cNvPr>
          <p:cNvSpPr/>
          <p:nvPr/>
        </p:nvSpPr>
        <p:spPr>
          <a:xfrm>
            <a:off x="5989966" y="3595987"/>
            <a:ext cx="2683533" cy="59436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채널 및 메시지 영역 </a:t>
            </a:r>
            <a:r>
              <a:rPr lang="en-US" altLang="ko-KR" sz="1600" dirty="0"/>
              <a:t>(Channel &amp; Message Area)</a:t>
            </a:r>
            <a:endParaRPr lang="ko-KR" altLang="en-US" sz="16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64F454D-5941-AAC4-280C-59D5B850C307}"/>
              </a:ext>
            </a:extLst>
          </p:cNvPr>
          <p:cNvSpPr/>
          <p:nvPr/>
        </p:nvSpPr>
        <p:spPr>
          <a:xfrm>
            <a:off x="5390157" y="1715324"/>
            <a:ext cx="3883152" cy="369050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상단 검색 및 메뉴 </a:t>
            </a:r>
            <a:r>
              <a:rPr lang="en-US" altLang="ko-KR" sz="1600" dirty="0"/>
              <a:t>(Top Search &amp; Menu)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67502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D2B1-5FBB-531F-60C2-FA09F1ACF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FF4C3AF-8721-EE76-8CE5-23AE89DA42D8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F9BEC9C-6A05-4C85-3A86-36872E4C1AF1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4D85A-A9E4-0CD7-4B55-2864279A13C8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1"/>
                </a:solidFill>
              </a:rPr>
              <a:t>Slack </a:t>
            </a:r>
            <a:r>
              <a:rPr lang="ko-KR" altLang="en-US" sz="2800" b="1" dirty="0">
                <a:solidFill>
                  <a:schemeClr val="accent1"/>
                </a:solidFill>
              </a:rPr>
              <a:t>알아보기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6839BB3-C79E-951A-8BD7-570CD1001240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474097-22A2-E574-517D-5558C7CDAFB2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chemeClr val="accent1"/>
                </a:solidFill>
              </a:rPr>
              <a:t>사이드바 </a:t>
            </a:r>
            <a:r>
              <a:rPr lang="en-US" altLang="ko-KR" sz="2000" b="1" dirty="0">
                <a:solidFill>
                  <a:schemeClr val="accent1"/>
                </a:solidFill>
              </a:rPr>
              <a:t>(Sidebar)</a:t>
            </a: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518D9E5A-5928-6821-CA82-B353EA2B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B620B8-78E5-77B3-7E05-4BCC83221A34}"/>
              </a:ext>
            </a:extLst>
          </p:cNvPr>
          <p:cNvSpPr txBox="1"/>
          <p:nvPr/>
        </p:nvSpPr>
        <p:spPr>
          <a:xfrm>
            <a:off x="982941" y="1425156"/>
            <a:ext cx="10693947" cy="703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Slack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의 가장 왼쪽에 위치한 어두운 보라색 영역인 사이드바는 </a:t>
            </a:r>
            <a:endParaRPr lang="en-US" altLang="ko-KR" sz="1400" dirty="0">
              <a:solidFill>
                <a:schemeClr val="dk1"/>
              </a:solidFill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모든 기능을 빠르게 탐색하고 효율적으로 작업할 수 있도록 돕는 핵심 메뉴입니다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AAC62A2-C994-28C9-04C7-6BD6DC40C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377630"/>
            <a:ext cx="1101090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44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5711B-2B8C-937B-750C-2B756F8A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CBB38B-6639-4169-3E20-FEA83D8A128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78B6012-8EEE-99BB-A9C2-4DB37F62B0D9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E63ED9B-0202-999C-D254-BAF6FD65F140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943AB2B-151A-0CED-19B4-081C39F410B2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chemeClr val="accent1"/>
                </a:solidFill>
              </a:rPr>
              <a:t>워크플로우 </a:t>
            </a:r>
            <a:r>
              <a:rPr lang="en-US" altLang="ko-KR" sz="2000" b="1" dirty="0">
                <a:solidFill>
                  <a:schemeClr val="accent1"/>
                </a:solidFill>
              </a:rPr>
              <a:t>Trigger</a:t>
            </a: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8BBE3838-5F69-8919-3232-292D3BB4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56B441-BC49-DC02-3B20-5221B5FEA76C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워크플로우 시작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B9D6C7-F8FD-02F8-9065-9685293A22C2}"/>
              </a:ext>
            </a:extLst>
          </p:cNvPr>
          <p:cNvSpPr txBox="1"/>
          <p:nvPr/>
        </p:nvSpPr>
        <p:spPr>
          <a:xfrm>
            <a:off x="982941" y="1425156"/>
            <a:ext cx="10693947" cy="703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워크플로우의 실행 시점은 특정 조건이 충족될 때 결정됩니다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n8n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은 수동 실행부터 외부 이벤트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시간 기반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다른 워크플로우 호출까지 다양한 트리거를 제공하여 워크플로우를 시작합니다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A06D3B3-C831-D6FC-5C98-122EB44536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13" y="2172325"/>
            <a:ext cx="10434373" cy="4108871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F8385D2-FAC9-561D-9522-7101D11C8C2A}"/>
              </a:ext>
            </a:extLst>
          </p:cNvPr>
          <p:cNvSpPr/>
          <p:nvPr/>
        </p:nvSpPr>
        <p:spPr>
          <a:xfrm>
            <a:off x="1452404" y="2322223"/>
            <a:ext cx="2150070" cy="118585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457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E54B6-118D-5D0D-F484-3F6A1BD2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CD6A89B-22F3-4856-8A02-59A5AFA955B7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9D2A82-49A6-EC7B-8060-D55A88396CE4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E41A468-B72C-1D3B-A739-41EC5F8791A0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EFEF690-AC10-A2E2-7FC5-0C999132E948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chemeClr val="accent1"/>
                </a:solidFill>
              </a:rPr>
              <a:t>Joke agent </a:t>
            </a:r>
            <a:r>
              <a:rPr lang="ko-KR" altLang="en-US" sz="2000" b="1" dirty="0">
                <a:solidFill>
                  <a:schemeClr val="accent1"/>
                </a:solidFill>
              </a:rPr>
              <a:t>추가</a:t>
            </a:r>
            <a:endParaRPr lang="en-US" altLang="ko-KR" sz="2000" b="1" dirty="0">
              <a:solidFill>
                <a:schemeClr val="accent1"/>
              </a:solidFill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37F0459F-8BE1-DC69-1397-5D787B022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8</a:t>
            </a:fld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2337BA2-D1CC-983F-C3CB-74416DA4515E}"/>
              </a:ext>
            </a:extLst>
          </p:cNvPr>
          <p:cNvGrpSpPr/>
          <p:nvPr/>
        </p:nvGrpSpPr>
        <p:grpSpPr>
          <a:xfrm>
            <a:off x="246087" y="2929914"/>
            <a:ext cx="3272368" cy="1418244"/>
            <a:chOff x="937294" y="2485159"/>
            <a:chExt cx="4355523" cy="188768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8245C22-9460-763B-AED1-1281F6362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294" y="2485159"/>
              <a:ext cx="4355523" cy="188768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3FC95CB2-38BD-6446-7955-AD384D503040}"/>
                </a:ext>
              </a:extLst>
            </p:cNvPr>
            <p:cNvSpPr/>
            <p:nvPr/>
          </p:nvSpPr>
          <p:spPr>
            <a:xfrm>
              <a:off x="4216228" y="3155995"/>
              <a:ext cx="404716" cy="377851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C6878DCD-CD54-2FEB-6638-3495EBD24C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44"/>
          <a:stretch>
            <a:fillRect/>
          </a:stretch>
        </p:blipFill>
        <p:spPr>
          <a:xfrm>
            <a:off x="3895868" y="1628124"/>
            <a:ext cx="2413772" cy="40218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CD727B6-3664-225D-A4DF-C913E43754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085"/>
          <a:stretch>
            <a:fillRect/>
          </a:stretch>
        </p:blipFill>
        <p:spPr>
          <a:xfrm>
            <a:off x="6687053" y="1084247"/>
            <a:ext cx="2413772" cy="51095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08D0477-223C-00AB-C4DC-2401752D56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2368"/>
          <a:stretch>
            <a:fillRect/>
          </a:stretch>
        </p:blipFill>
        <p:spPr>
          <a:xfrm>
            <a:off x="9478238" y="1694898"/>
            <a:ext cx="2373212" cy="38882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21B21A9-E9C4-3E83-CA9C-C6C352F89B38}"/>
              </a:ext>
            </a:extLst>
          </p:cNvPr>
          <p:cNvCxnSpPr>
            <a:stCxn id="8" idx="3"/>
            <a:endCxn id="21" idx="1"/>
          </p:cNvCxnSpPr>
          <p:nvPr/>
        </p:nvCxnSpPr>
        <p:spPr>
          <a:xfrm>
            <a:off x="3518455" y="3639036"/>
            <a:ext cx="37741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C5EAFD2-9A0E-2F70-3EB3-924F096F6AB9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6309640" y="3639037"/>
            <a:ext cx="37741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C519DB1-E1EC-91F0-05D8-A5B59FD97978}"/>
              </a:ext>
            </a:extLst>
          </p:cNvPr>
          <p:cNvCxnSpPr>
            <a:cxnSpLocks/>
            <a:stCxn id="24" idx="3"/>
            <a:endCxn id="26" idx="1"/>
          </p:cNvCxnSpPr>
          <p:nvPr/>
        </p:nvCxnSpPr>
        <p:spPr>
          <a:xfrm>
            <a:off x="9100825" y="3639037"/>
            <a:ext cx="37741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CDC0F3B-9A66-8207-F7BF-FD9B6636E655}"/>
              </a:ext>
            </a:extLst>
          </p:cNvPr>
          <p:cNvSpPr/>
          <p:nvPr/>
        </p:nvSpPr>
        <p:spPr>
          <a:xfrm>
            <a:off x="3909396" y="2659120"/>
            <a:ext cx="2375015" cy="457200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228204C-EDDA-0E94-5C9B-BA437924331A}"/>
              </a:ext>
            </a:extLst>
          </p:cNvPr>
          <p:cNvSpPr/>
          <p:nvPr/>
        </p:nvSpPr>
        <p:spPr>
          <a:xfrm>
            <a:off x="6704412" y="2290312"/>
            <a:ext cx="2375015" cy="457200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2749EB8-87F7-60F0-BD13-B78E1F8BE906}"/>
              </a:ext>
            </a:extLst>
          </p:cNvPr>
          <p:cNvSpPr/>
          <p:nvPr/>
        </p:nvSpPr>
        <p:spPr>
          <a:xfrm>
            <a:off x="9478238" y="4959023"/>
            <a:ext cx="2375015" cy="502920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35C456-9039-CFDF-DDA3-F899A3F4A04C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워크플로우 시작</a:t>
            </a:r>
          </a:p>
        </p:txBody>
      </p:sp>
    </p:spTree>
    <p:extLst>
      <p:ext uri="{BB962C8B-B14F-4D97-AF65-F5344CB8AC3E}">
        <p14:creationId xmlns:p14="http://schemas.microsoft.com/office/powerpoint/2010/main" val="1807902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404D-BF5C-3342-EDC1-E25083880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EB3637-3157-708A-1B8A-37C1DA486EE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72EEC2E-B092-5D55-E2E5-9977FAE95CDC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2C706D3-E90A-55DC-F4F5-2A7B06113833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E799936-CBDA-1654-F5BE-2059EE9990C8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chemeClr val="accent1"/>
                </a:solidFill>
              </a:rPr>
              <a:t>Joke Agent</a:t>
            </a:r>
            <a:r>
              <a:rPr lang="ko-KR" altLang="en-US" sz="2000" b="1" dirty="0">
                <a:solidFill>
                  <a:schemeClr val="accent1"/>
                </a:solidFill>
              </a:rPr>
              <a:t> 란</a:t>
            </a:r>
            <a:r>
              <a:rPr lang="en-US" altLang="ko-KR" sz="2000" b="1" dirty="0">
                <a:solidFill>
                  <a:schemeClr val="accent1"/>
                </a:solidFill>
              </a:rPr>
              <a:t>?</a:t>
            </a: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54FC8F37-3702-EF73-AE25-8C335DCF0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DE5101-E7BD-4812-C740-06B4BB519A1F}"/>
              </a:ext>
            </a:extLst>
          </p:cNvPr>
          <p:cNvSpPr txBox="1"/>
          <p:nvPr/>
        </p:nvSpPr>
        <p:spPr>
          <a:xfrm>
            <a:off x="982941" y="1425156"/>
            <a:ext cx="10693947" cy="38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Joke Agent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는 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AI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와 외부 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API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를 결합하여 사용자에게 맞춤형 농담을 제공하는 </a:t>
            </a:r>
            <a:r>
              <a:rPr lang="ko-KR" altLang="en-US" sz="1400" dirty="0" err="1">
                <a:solidFill>
                  <a:schemeClr val="dk1"/>
                </a:solidFill>
                <a:latin typeface="+mn-ea"/>
              </a:rPr>
              <a:t>챗봇입니다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2A7354-9BD5-97A4-DD62-F88F29B91C3B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워크플로우 시작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F21DEE1-E87C-52FC-DDC7-908B10BA9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22" y="1979833"/>
            <a:ext cx="10719955" cy="38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6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6B1BB-A51D-9394-8138-C30823D1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B8B8742-B1D5-0054-7B51-2777250CC82A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C88B031-DEC7-28D6-924B-E8FCD476B479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4F748C8-29F4-069F-F11E-213F44105060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2EAAD7C-E48A-A1B8-D727-F8FDE067B151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chemeClr val="accent1"/>
                </a:solidFill>
              </a:rPr>
              <a:t>Joke Agent</a:t>
            </a:r>
            <a:r>
              <a:rPr lang="ko-KR" altLang="en-US" sz="2000" b="1" dirty="0">
                <a:solidFill>
                  <a:schemeClr val="accent1"/>
                </a:solidFill>
              </a:rPr>
              <a:t>가 제공하는 기능</a:t>
            </a:r>
            <a:endParaRPr lang="en-US" altLang="ko-KR" sz="2000" b="1" dirty="0">
              <a:solidFill>
                <a:schemeClr val="accent1"/>
              </a:solidFill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7FAEAF41-F7B1-641F-B9BB-C5FFEA375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7A773-D959-B4A1-B19C-BB1D9AA53648}"/>
              </a:ext>
            </a:extLst>
          </p:cNvPr>
          <p:cNvSpPr txBox="1"/>
          <p:nvPr/>
        </p:nvSpPr>
        <p:spPr>
          <a:xfrm>
            <a:off x="982941" y="1425156"/>
            <a:ext cx="10693947" cy="38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Joke Agent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는 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AI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와 외부 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API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를 결합하여 사용자에게 맞춤형 농담을 제공하는 </a:t>
            </a:r>
            <a:r>
              <a:rPr lang="ko-KR" altLang="en-US" sz="1400" dirty="0" err="1">
                <a:solidFill>
                  <a:schemeClr val="dk1"/>
                </a:solidFill>
                <a:latin typeface="+mn-ea"/>
              </a:rPr>
              <a:t>챗봇입니다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6B5C03-F903-0BFC-752F-2FDD703B0C49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워크플로우 시작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0491DC-B1E5-0B13-4988-23C959FC5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" y="2391346"/>
            <a:ext cx="110109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39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4F1D0-0E1E-9A3C-0F2C-B3240455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CDDB5ACA-E709-55BD-961B-F7E3AF2676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51"/>
          <a:stretch>
            <a:fillRect/>
          </a:stretch>
        </p:blipFill>
        <p:spPr>
          <a:xfrm>
            <a:off x="245042" y="2358915"/>
            <a:ext cx="3318070" cy="180567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AB04C5E-5E6F-BDFA-0302-4FA3A6B4693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00F6AF-1329-C239-88DE-C76361EA25C6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1591065-727F-EEB5-E5A0-C72CB8A8B572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C0667FA-BF27-0AAD-099A-D8151522F966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chemeClr val="accent1"/>
                </a:solidFill>
              </a:rPr>
              <a:t>Model </a:t>
            </a:r>
            <a:r>
              <a:rPr lang="ko-KR" altLang="en-US" sz="2000" b="1" dirty="0">
                <a:solidFill>
                  <a:schemeClr val="accent1"/>
                </a:solidFill>
              </a:rPr>
              <a:t>설정</a:t>
            </a:r>
            <a:endParaRPr lang="en-US" altLang="ko-KR" sz="2000" b="1" dirty="0">
              <a:solidFill>
                <a:schemeClr val="accent1"/>
              </a:solidFill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194F7318-877A-4B5D-CCA5-81861536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61B0C7-BCD8-349A-84C8-4DA8F908A704}"/>
              </a:ext>
            </a:extLst>
          </p:cNvPr>
          <p:cNvSpPr txBox="1"/>
          <p:nvPr/>
        </p:nvSpPr>
        <p:spPr>
          <a:xfrm>
            <a:off x="982941" y="1425156"/>
            <a:ext cx="10693947" cy="38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n8n 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워크플로우 편집기의 좌측 패널은 다양한 기능에 접근하고 워크플로우를 체계적으로 관리할 수 있는 메인 메뉴 역할을 합니다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7D0C41E-B4F8-7909-2D75-419B1E0CD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450" y="2357232"/>
            <a:ext cx="3290455" cy="32471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838CDA0-A458-F3F0-A86C-CEDDBF4795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8314" y="2223015"/>
            <a:ext cx="3307773" cy="351559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0A67F61-D82E-3C6E-0BEC-116B401813BC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7820905" y="3980811"/>
            <a:ext cx="507409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2004363-03FB-C507-7EB8-3EEA68F57082}"/>
              </a:ext>
            </a:extLst>
          </p:cNvPr>
          <p:cNvSpPr/>
          <p:nvPr/>
        </p:nvSpPr>
        <p:spPr>
          <a:xfrm>
            <a:off x="4580647" y="3038494"/>
            <a:ext cx="3161147" cy="55321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6AA2949-227B-8F1D-A21E-9C8332C838E5}"/>
              </a:ext>
            </a:extLst>
          </p:cNvPr>
          <p:cNvSpPr/>
          <p:nvPr/>
        </p:nvSpPr>
        <p:spPr>
          <a:xfrm>
            <a:off x="8390647" y="4493614"/>
            <a:ext cx="3161147" cy="343501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31C5ACB-2220-684F-971E-34FB850B384B}"/>
              </a:ext>
            </a:extLst>
          </p:cNvPr>
          <p:cNvSpPr/>
          <p:nvPr/>
        </p:nvSpPr>
        <p:spPr>
          <a:xfrm>
            <a:off x="706948" y="3561988"/>
            <a:ext cx="592546" cy="553212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A44DB8-2173-7216-D20E-9EA9A0A0D6A6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워크플로우 시작</a:t>
            </a:r>
          </a:p>
        </p:txBody>
      </p:sp>
    </p:spTree>
    <p:extLst>
      <p:ext uri="{BB962C8B-B14F-4D97-AF65-F5344CB8AC3E}">
        <p14:creationId xmlns:p14="http://schemas.microsoft.com/office/powerpoint/2010/main" val="603241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56C44-8A07-37BE-E14F-57243359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1C754A7C-890C-8C20-E492-DC6ED8A391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51"/>
          <a:stretch>
            <a:fillRect/>
          </a:stretch>
        </p:blipFill>
        <p:spPr>
          <a:xfrm>
            <a:off x="1331446" y="2320795"/>
            <a:ext cx="3318070" cy="180567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6B4F129-4626-40B5-28B6-96F52532B22F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A001FFF-55D7-595A-CBE5-BA6BAEDD34DC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FED7D73-8204-C08B-5B78-6BF7B5DDCB88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3AB6F5-29DE-E9BD-BF3B-E8D46FB5D24D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chemeClr val="accent1"/>
                </a:solidFill>
              </a:rPr>
              <a:t>Joke</a:t>
            </a:r>
            <a:r>
              <a:rPr lang="ko-KR" altLang="en-US" sz="2000" b="1" dirty="0">
                <a:solidFill>
                  <a:schemeClr val="accent1"/>
                </a:solidFill>
              </a:rPr>
              <a:t> </a:t>
            </a:r>
            <a:r>
              <a:rPr lang="en-US" altLang="ko-KR" sz="2000" b="1" dirty="0">
                <a:solidFill>
                  <a:schemeClr val="accent1"/>
                </a:solidFill>
              </a:rPr>
              <a:t>API</a:t>
            </a:r>
            <a:r>
              <a:rPr lang="ko-KR" altLang="en-US" sz="2000" b="1" dirty="0">
                <a:solidFill>
                  <a:schemeClr val="accent1"/>
                </a:solidFill>
              </a:rPr>
              <a:t> 설정</a:t>
            </a:r>
            <a:endParaRPr lang="en-US" altLang="ko-KR" sz="2000" b="1" dirty="0">
              <a:solidFill>
                <a:schemeClr val="accent1"/>
              </a:solidFill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A64825A8-F3C1-DFEF-F494-1C8A2A78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D4811F-3938-1877-BAAE-94C88C446B9A}"/>
              </a:ext>
            </a:extLst>
          </p:cNvPr>
          <p:cNvSpPr txBox="1"/>
          <p:nvPr/>
        </p:nvSpPr>
        <p:spPr>
          <a:xfrm>
            <a:off x="982941" y="1425156"/>
            <a:ext cx="10693947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Joke API 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노드를 클릭해서 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URL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을 변경합니다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URL: https://v2.jokeapi.dev/joke/Any?format=txt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D817AD6-9878-B5E5-0617-D218689E5A19}"/>
              </a:ext>
            </a:extLst>
          </p:cNvPr>
          <p:cNvSpPr/>
          <p:nvPr/>
        </p:nvSpPr>
        <p:spPr>
          <a:xfrm>
            <a:off x="3210672" y="3459860"/>
            <a:ext cx="592546" cy="553212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F8FDD78-36BB-F85E-67E2-E7FF6B24D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207608"/>
            <a:ext cx="3273136" cy="492702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0B2B38B-0C3B-0638-0A08-E175B865FD5F}"/>
              </a:ext>
            </a:extLst>
          </p:cNvPr>
          <p:cNvCxnSpPr>
            <a:cxnSpLocks/>
          </p:cNvCxnSpPr>
          <p:nvPr/>
        </p:nvCxnSpPr>
        <p:spPr>
          <a:xfrm flipV="1">
            <a:off x="4691688" y="3247420"/>
            <a:ext cx="1592470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3AC58AB-00E2-4506-FCDF-B17C2E83B7B3}"/>
              </a:ext>
            </a:extLst>
          </p:cNvPr>
          <p:cNvSpPr/>
          <p:nvPr/>
        </p:nvSpPr>
        <p:spPr>
          <a:xfrm>
            <a:off x="6372871" y="4300366"/>
            <a:ext cx="3161147" cy="55321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47B1D8-CCED-3D55-2C52-14A79C09FB20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워크플로우 시작</a:t>
            </a:r>
          </a:p>
        </p:txBody>
      </p:sp>
    </p:spTree>
    <p:extLst>
      <p:ext uri="{BB962C8B-B14F-4D97-AF65-F5344CB8AC3E}">
        <p14:creationId xmlns:p14="http://schemas.microsoft.com/office/powerpoint/2010/main" val="2073045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50981-9344-0479-DB49-2B0AF9AB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D4AEDE8-2216-66F4-6CFC-9CE8DC89B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657" y="707827"/>
            <a:ext cx="3273136" cy="5316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2B8C0F3-C41C-3C89-001D-54A229E335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51"/>
          <a:stretch>
            <a:fillRect/>
          </a:stretch>
        </p:blipFill>
        <p:spPr>
          <a:xfrm>
            <a:off x="1397186" y="2304051"/>
            <a:ext cx="3318070" cy="180567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A0256A0-94A4-991C-2D2B-00EFAEEF07AA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8EEAC30-DB97-A59A-67E2-DA128AB61368}"/>
              </a:ext>
            </a:extLst>
          </p:cNvPr>
          <p:cNvSpPr txBox="1"/>
          <p:nvPr/>
        </p:nvSpPr>
        <p:spPr>
          <a:xfrm>
            <a:off x="144378" y="272716"/>
            <a:ext cx="7024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1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3F823FE-03B5-C085-DE8A-C5588869D6E2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9457C3-39FC-13CA-5B9C-EA0B6727FEE0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chemeClr val="accent1"/>
                </a:solidFill>
              </a:rPr>
              <a:t>Jok agent </a:t>
            </a:r>
            <a:r>
              <a:rPr lang="ko-KR" altLang="en-US" sz="2000" b="1" dirty="0">
                <a:solidFill>
                  <a:schemeClr val="accent1"/>
                </a:solidFill>
              </a:rPr>
              <a:t>설정</a:t>
            </a:r>
            <a:endParaRPr lang="en-US" altLang="ko-KR" sz="2000" b="1" dirty="0">
              <a:solidFill>
                <a:schemeClr val="accent1"/>
              </a:solidFill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32A37C83-CECC-74C6-9ABF-8E54F840B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3B2172-DD27-B043-57F1-61A740F13A3C}"/>
              </a:ext>
            </a:extLst>
          </p:cNvPr>
          <p:cNvSpPr txBox="1"/>
          <p:nvPr/>
        </p:nvSpPr>
        <p:spPr>
          <a:xfrm>
            <a:off x="982941" y="1425156"/>
            <a:ext cx="10693947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Joke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agent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 노드를 클릭해서 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System Message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를 변경합니다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System Message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는 시스템에 전달하는 프롬프트입니다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2E0F3D4-2A14-CBCD-202F-9635177696A3}"/>
              </a:ext>
            </a:extLst>
          </p:cNvPr>
          <p:cNvSpPr/>
          <p:nvPr/>
        </p:nvSpPr>
        <p:spPr>
          <a:xfrm>
            <a:off x="6490041" y="4575862"/>
            <a:ext cx="3042752" cy="143907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16814AC-DFBF-C002-7DE5-25C135308378}"/>
              </a:ext>
            </a:extLst>
          </p:cNvPr>
          <p:cNvSpPr/>
          <p:nvPr/>
        </p:nvSpPr>
        <p:spPr>
          <a:xfrm>
            <a:off x="2288373" y="2453278"/>
            <a:ext cx="1270176" cy="50292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9CC9760-2C93-183F-D7A3-B3ABB4A1B4DD}"/>
              </a:ext>
            </a:extLst>
          </p:cNvPr>
          <p:cNvCxnSpPr>
            <a:cxnSpLocks/>
          </p:cNvCxnSpPr>
          <p:nvPr/>
        </p:nvCxnSpPr>
        <p:spPr>
          <a:xfrm flipV="1">
            <a:off x="4733616" y="3221859"/>
            <a:ext cx="150648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95DFAB4-5434-6495-5A06-EE77CBD00502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워크플로우 시작</a:t>
            </a:r>
          </a:p>
        </p:txBody>
      </p:sp>
    </p:spTree>
    <p:extLst>
      <p:ext uri="{BB962C8B-B14F-4D97-AF65-F5344CB8AC3E}">
        <p14:creationId xmlns:p14="http://schemas.microsoft.com/office/powerpoint/2010/main" val="755548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D4D50F-D559-DD2E-F987-69191E4C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508232D-4F45-EF3E-3B17-2B0066D9338C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1A9457A-9012-14A1-8478-1AE29629C8D4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19900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B7F062F-8558-F794-ABF6-5A395FC24662}"/>
                </a:ext>
              </a:extLst>
            </p:cNvPr>
            <p:cNvSpPr txBox="1"/>
            <p:nvPr/>
          </p:nvSpPr>
          <p:spPr>
            <a:xfrm>
              <a:off x="6817895" y="3350782"/>
              <a:ext cx="528381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spc="-300" dirty="0">
                  <a:solidFill>
                    <a:schemeClr val="bg1"/>
                  </a:solidFill>
                  <a:latin typeface="+mn-ea"/>
                </a:rPr>
                <a:t>n8n </a:t>
              </a:r>
              <a:r>
                <a:rPr lang="ko-KR" altLang="en-US" sz="4800" b="1" spc="-300" dirty="0">
                  <a:solidFill>
                    <a:schemeClr val="bg1"/>
                  </a:solidFill>
                  <a:latin typeface="+mn-ea"/>
                </a:rPr>
                <a:t>워크플로우 실행</a:t>
              </a: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5D611088-C320-A309-3BBC-22BCE01879AA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5A2E98ED-D270-0F2B-6D03-C441F39DDB8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961EE1C-AEBC-F962-EF97-420CB2328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1912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3B43-3283-3EAB-7383-7D485162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99A5EAA-37BA-D1F3-F26A-FF67A023BDD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2F06CB7-2903-B28B-A862-C833BD9FC981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ECD8994-656C-C2F1-5322-CF878E1CC5B1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2E644BF-EC3F-41AE-8C54-0B0ED2F23E3E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chemeClr val="accent1"/>
                </a:solidFill>
              </a:rPr>
              <a:t>Joke workflow </a:t>
            </a:r>
            <a:r>
              <a:rPr lang="ko-KR" altLang="en-US" sz="2000" b="1" dirty="0">
                <a:solidFill>
                  <a:schemeClr val="accent1"/>
                </a:solidFill>
              </a:rPr>
              <a:t>실행</a:t>
            </a:r>
            <a:endParaRPr lang="en-US" altLang="ko-KR" sz="2000" b="1" dirty="0">
              <a:solidFill>
                <a:schemeClr val="accent1"/>
              </a:solidFill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83B48140-E280-F045-E983-20FB4D898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3E1330-DCE3-1F03-6E14-89AF6501A822}"/>
              </a:ext>
            </a:extLst>
          </p:cNvPr>
          <p:cNvSpPr txBox="1"/>
          <p:nvPr/>
        </p:nvSpPr>
        <p:spPr>
          <a:xfrm>
            <a:off x="982941" y="1425156"/>
            <a:ext cx="10693947" cy="38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좌측 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Chat 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패널에 메시지를 입력하면 워크플로우가 실행됩니다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C519D4F-5CAF-EB4B-0239-5E087ADB5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" y="2138553"/>
            <a:ext cx="10887075" cy="28003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084E594-56CE-8C42-A049-98D3C94D76E3}"/>
              </a:ext>
            </a:extLst>
          </p:cNvPr>
          <p:cNvSpPr/>
          <p:nvPr/>
        </p:nvSpPr>
        <p:spPr>
          <a:xfrm>
            <a:off x="677238" y="2533934"/>
            <a:ext cx="4756262" cy="234081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8FDC66-02D2-9915-CE38-BEE7FB47CE07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워크플로우 실행</a:t>
            </a:r>
          </a:p>
        </p:txBody>
      </p:sp>
    </p:spTree>
    <p:extLst>
      <p:ext uri="{BB962C8B-B14F-4D97-AF65-F5344CB8AC3E}">
        <p14:creationId xmlns:p14="http://schemas.microsoft.com/office/powerpoint/2010/main" val="2611004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725ED-46D0-90F4-5191-AD044E0F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24CA776-A2A5-59F6-1684-C231F707689E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ABDE06D-9890-42C9-E6DC-8D94BEA5CF7B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506D64D-DE3F-8BD1-8745-87EA5E30A173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307A50-BF2B-F327-E8BC-E6EE116EEADC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chemeClr val="accent1"/>
                </a:solidFill>
              </a:rPr>
              <a:t>워크플로우 자동 실행 방법</a:t>
            </a:r>
            <a:endParaRPr lang="en-US" altLang="ko-KR" sz="2000" b="1" dirty="0">
              <a:solidFill>
                <a:schemeClr val="accent1"/>
              </a:solidFill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2097F742-88F1-D814-ED8A-6EF2E6726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8FD9AE-7917-F091-A6C1-060A6C20ACC4}"/>
              </a:ext>
            </a:extLst>
          </p:cNvPr>
          <p:cNvSpPr txBox="1"/>
          <p:nvPr/>
        </p:nvSpPr>
        <p:spPr>
          <a:xfrm>
            <a:off x="982941" y="1425156"/>
            <a:ext cx="10693947" cy="38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Active 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상태의 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n8n 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워크플로우는 설정된 트리거에 의해 자동으로 실행되거나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수동으로 실행할 수 있습니다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F267DDD-C75A-8256-764B-01EA20258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96" y="2214742"/>
            <a:ext cx="10237607" cy="37452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7D654D-369E-43C9-5CF9-0160C5F80724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워크플로우 실행</a:t>
            </a:r>
          </a:p>
        </p:txBody>
      </p:sp>
    </p:spTree>
    <p:extLst>
      <p:ext uri="{BB962C8B-B14F-4D97-AF65-F5344CB8AC3E}">
        <p14:creationId xmlns:p14="http://schemas.microsoft.com/office/powerpoint/2010/main" val="3911846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89B43-27F1-26A3-63E0-F340B7316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F4FB44D-1C1E-F2AA-AC35-2AACA6F8775C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9EEAAB5-F93A-3E8E-04BA-47A49EE9E280}"/>
              </a:ext>
            </a:extLst>
          </p:cNvPr>
          <p:cNvSpPr txBox="1"/>
          <p:nvPr/>
        </p:nvSpPr>
        <p:spPr>
          <a:xfrm>
            <a:off x="144378" y="272716"/>
            <a:ext cx="675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</a:rPr>
              <a:t>Part 2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AEF19BA-FAF3-0FC9-3F7A-D9BFD9FE5994}"/>
              </a:ext>
            </a:extLst>
          </p:cNvPr>
          <p:cNvCxnSpPr/>
          <p:nvPr/>
        </p:nvCxnSpPr>
        <p:spPr>
          <a:xfrm>
            <a:off x="144378" y="6737685"/>
            <a:ext cx="12060000" cy="0"/>
          </a:xfrm>
          <a:prstGeom prst="line">
            <a:avLst/>
          </a:prstGeom>
          <a:ln w="3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5454F36-6446-2D0C-71C7-6D61EBB1DF9F}"/>
              </a:ext>
            </a:extLst>
          </p:cNvPr>
          <p:cNvSpPr txBox="1"/>
          <p:nvPr/>
        </p:nvSpPr>
        <p:spPr>
          <a:xfrm>
            <a:off x="562243" y="1007553"/>
            <a:ext cx="87110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chemeClr val="accent1"/>
                </a:solidFill>
              </a:rPr>
              <a:t>워크플로우 자동 실행</a:t>
            </a:r>
            <a:endParaRPr lang="en-US" altLang="ko-KR" sz="2000" b="1" dirty="0">
              <a:solidFill>
                <a:schemeClr val="accent1"/>
              </a:solidFill>
            </a:endParaRPr>
          </a:p>
        </p:txBody>
      </p:sp>
      <p:sp>
        <p:nvSpPr>
          <p:cNvPr id="19" name="슬라이드 번호 개체 틀 18">
            <a:extLst>
              <a:ext uri="{FF2B5EF4-FFF2-40B4-BE49-F238E27FC236}">
                <a16:creationId xmlns:a16="http://schemas.microsoft.com/office/drawing/2014/main" id="{7E7F32AA-B2FA-098E-C47A-BA8F5055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3D71A-8DA0-1804-8721-674FFA747196}"/>
              </a:ext>
            </a:extLst>
          </p:cNvPr>
          <p:cNvSpPr txBox="1"/>
          <p:nvPr/>
        </p:nvSpPr>
        <p:spPr>
          <a:xfrm>
            <a:off x="982941" y="1425156"/>
            <a:ext cx="10693947" cy="38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Inactive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를 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Active</a:t>
            </a:r>
            <a:r>
              <a:rPr lang="ko-KR" altLang="en-US" sz="1400" dirty="0">
                <a:solidFill>
                  <a:schemeClr val="dk1"/>
                </a:solidFill>
                <a:latin typeface="+mn-ea"/>
              </a:rPr>
              <a:t>로 변경합니다</a:t>
            </a:r>
            <a:r>
              <a:rPr lang="en-US" altLang="ko-KR" sz="1400" dirty="0">
                <a:solidFill>
                  <a:schemeClr val="dk1"/>
                </a:solidFill>
                <a:latin typeface="+mn-ea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BC28BAA-C59B-63EF-6D0A-B61B2E76F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828" y="1843081"/>
            <a:ext cx="8703099" cy="4417535"/>
          </a:xfrm>
          <a:prstGeom prst="rect">
            <a:avLst/>
          </a:prstGeom>
        </p:spPr>
      </p:pic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BFFA18F-5623-53AB-5B96-5A45BFDC09DE}"/>
              </a:ext>
            </a:extLst>
          </p:cNvPr>
          <p:cNvSpPr/>
          <p:nvPr/>
        </p:nvSpPr>
        <p:spPr>
          <a:xfrm>
            <a:off x="8482653" y="4178391"/>
            <a:ext cx="1536913" cy="377851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5B7E11-3F80-A786-63CB-78F3DF03A52E}"/>
              </a:ext>
            </a:extLst>
          </p:cNvPr>
          <p:cNvSpPr txBox="1"/>
          <p:nvPr/>
        </p:nvSpPr>
        <p:spPr>
          <a:xfrm>
            <a:off x="1163052" y="272716"/>
            <a:ext cx="5542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accent1"/>
                </a:solidFill>
              </a:rPr>
              <a:t>워크플로우 실행</a:t>
            </a:r>
          </a:p>
        </p:txBody>
      </p:sp>
    </p:spTree>
    <p:extLst>
      <p:ext uri="{BB962C8B-B14F-4D97-AF65-F5344CB8AC3E}">
        <p14:creationId xmlns:p14="http://schemas.microsoft.com/office/powerpoint/2010/main" val="2141163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그림 225">
            <a:extLst>
              <a:ext uri="{FF2B5EF4-FFF2-40B4-BE49-F238E27FC236}">
                <a16:creationId xmlns:a16="http://schemas.microsoft.com/office/drawing/2014/main" id="{E9F710E5-3FCD-3534-52F4-43CAFFA856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57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82E972E3-5A9F-5EC8-8519-037C335D1561}"/>
              </a:ext>
            </a:extLst>
          </p:cNvPr>
          <p:cNvSpPr txBox="1"/>
          <p:nvPr/>
        </p:nvSpPr>
        <p:spPr>
          <a:xfrm flipH="1">
            <a:off x="566417" y="1371012"/>
            <a:ext cx="544645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에이전트는 모든 사람이 컴퓨터와 상호작용하는 방식을 바꿀 것입니다</a:t>
            </a:r>
            <a:r>
              <a:rPr lang="en-US" altLang="ko-KR" sz="3200" b="1" dirty="0">
                <a:solidFill>
                  <a:schemeClr val="bg1"/>
                </a:solidFill>
              </a:rPr>
              <a:t>. </a:t>
            </a:r>
          </a:p>
          <a:p>
            <a:r>
              <a:rPr lang="ko-KR" altLang="en-US" sz="3200" b="1" dirty="0">
                <a:solidFill>
                  <a:schemeClr val="bg1"/>
                </a:solidFill>
              </a:rPr>
              <a:t>이것은 명령을 입력하는 방식에서 아이콘을 탭하는 방식으로 바뀐 이후 가장 큰 컴퓨팅 혁명이 될 것입니다</a:t>
            </a:r>
            <a:r>
              <a:rPr lang="en-US" altLang="ko-KR" sz="3200" b="1" dirty="0">
                <a:solidFill>
                  <a:schemeClr val="bg1"/>
                </a:solidFill>
              </a:rPr>
              <a:t>.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9BAEDBE-12FD-5EE1-9883-1EEE1DBAB417}"/>
              </a:ext>
            </a:extLst>
          </p:cNvPr>
          <p:cNvSpPr txBox="1"/>
          <p:nvPr/>
        </p:nvSpPr>
        <p:spPr>
          <a:xfrm flipH="1">
            <a:off x="566417" y="4938150"/>
            <a:ext cx="499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빌 게이츠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71031A7-A782-E76D-0779-0B6BC4B83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5345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2257</TotalTime>
  <Words>647</Words>
  <Application>Microsoft Office PowerPoint</Application>
  <PresentationFormat>와이드스크린</PresentationFormat>
  <Paragraphs>118</Paragraphs>
  <Slides>18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Pretendard</vt:lpstr>
      <vt:lpstr>Pretendard Black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livekey7360</cp:lastModifiedBy>
  <cp:revision>95</cp:revision>
  <dcterms:created xsi:type="dcterms:W3CDTF">2022-08-03T01:14:38Z</dcterms:created>
  <dcterms:modified xsi:type="dcterms:W3CDTF">2025-09-08T10:42:42Z</dcterms:modified>
</cp:coreProperties>
</file>